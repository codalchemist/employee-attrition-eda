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 02" id="{369fed67-6049-5530-9e8e-f1ca917a3a0b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5F"/>
                </a:solidFill>
                <a:latin typeface="+mn-lt"/>
              </a:rPr>
              <a:t>Attrition rate by overtime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overtime</c:v>
                </c:pt>
              </c:strCache>
            </c:strRef>
          </c:tx>
          <c:spPr>
            <a:solidFill>
              <a:srgbClr val="4C78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 overtime</c:v>
                  </c:pt>
                  <c:pt idx="1">
                    <c:v>Overtime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10.436432637571158</c:v>
                </c:pt>
                <c:pt idx="1">
                  <c:v>30.528846153846157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5F"/>
                </a:solidFill>
                <a:latin typeface="+mn-lt"/>
              </a:rPr>
              <a:t>Attrition rate by job role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job role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Research Director</c:v>
                  </c:pt>
                  <c:pt idx="1">
                    <c:v>Manager</c:v>
                  </c:pt>
                  <c:pt idx="2">
                    <c:v>Healthcare Representative</c:v>
                  </c:pt>
                  <c:pt idx="3">
                    <c:v>Manufacturing Director</c:v>
                  </c:pt>
                  <c:pt idx="4">
                    <c:v>Research Scientist</c:v>
                  </c:pt>
                  <c:pt idx="5">
                    <c:v>Sales Executive</c:v>
                  </c:pt>
                  <c:pt idx="6">
                    <c:v>Human Resources</c:v>
                  </c:pt>
                  <c:pt idx="7">
                    <c:v>Laboratory Technician</c:v>
                  </c:pt>
                  <c:pt idx="8">
                    <c:v>Sales Representative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2.5</c:v>
                </c:pt>
                <c:pt idx="1">
                  <c:v>4.901960784313726</c:v>
                </c:pt>
                <c:pt idx="2">
                  <c:v>6.870229007633588</c:v>
                </c:pt>
                <c:pt idx="3">
                  <c:v>6.896551724137931</c:v>
                </c:pt>
                <c:pt idx="4">
                  <c:v>16.095890410958905</c:v>
                </c:pt>
                <c:pt idx="5">
                  <c:v>17.484662576687114</c:v>
                </c:pt>
                <c:pt idx="6">
                  <c:v>23.076923076923077</c:v>
                </c:pt>
                <c:pt idx="7">
                  <c:v>23.93822393822394</c:v>
                </c:pt>
                <c:pt idx="8">
                  <c:v>39.75903614457831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5F"/>
                </a:solidFill>
                <a:latin typeface="+mn-lt"/>
              </a:rPr>
              <a:t>Attrition rate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age group</c:v>
                </c:pt>
              </c:strCache>
            </c:strRef>
          </c:tx>
          <c:spPr>
            <a:solidFill>
              <a:srgbClr val="4C78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18-25</c:v>
                  </c:pt>
                  <c:pt idx="1">
                    <c:v>26-35</c:v>
                  </c:pt>
                  <c:pt idx="2">
                    <c:v>36-45</c:v>
                  </c:pt>
                  <c:pt idx="3">
                    <c:v>46-55</c:v>
                  </c:pt>
                  <c:pt idx="4">
                    <c:v>56+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35.77235772357724</c:v>
                </c:pt>
                <c:pt idx="1">
                  <c:v>19.141914191419144</c:v>
                </c:pt>
                <c:pt idx="2">
                  <c:v>9.18803418803419</c:v>
                </c:pt>
                <c:pt idx="3">
                  <c:v>11.504424778761061</c:v>
                </c:pt>
                <c:pt idx="4">
                  <c:v>17.02127659574468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3A5F"/>
                </a:solidFill>
                <a:latin typeface="+mn-lt"/>
              </a:rPr>
              <a:t>Attrition rate by job satisfaction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by job satisfaction</c:v>
                </c:pt>
              </c:strCache>
            </c:strRef>
          </c:tx>
          <c:spPr>
            <a:solidFill>
              <a:srgbClr val="4C78A8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  <c:pt idx="3">
                    <c:v>Very High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22.837370242214533</c:v>
                </c:pt>
                <c:pt idx="1">
                  <c:v>16.428571428571427</c:v>
                </c:pt>
                <c:pt idx="2">
                  <c:v>16.515837104072396</c:v>
                </c:pt>
                <c:pt idx="3">
                  <c:v>11.328976034858387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7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4572E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Employee Attrition &amp; Workforce Analytics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6F1"/>
                </a:solidFill>
              </a:rPr>
              <a:t>Exploratory data analysis using Python  |  IBM HR dataset, 1,470 employees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Python  ·  Pandas  ·  NumPy  ·  Matplotlib  ·  Seaborn  ·  SciPy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data and approach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Objective: find which factors are associated with employees leaving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Data: IBM HR Analytics Attrition dataset, 35 columns, no missing values or duplicates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Cleaning: dropped 3 constant columns and an ID, added labels and age bands, kept genuine outliers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</a:rPr>
              <a:t>Analysis: univariate, bivariate, multivariate, correlation, outliers, statistical tests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94960" y="1280160"/>
            <a:ext cx="3291840" cy="960120"/>
          </a:xfrm>
          <a:prstGeom prst="rect">
            <a:avLst/>
          </a:prstGeom>
          <a:solidFill>
            <a:srgbClr val="F2F6FA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1280160"/>
            <a:ext cx="73152" cy="960120"/>
          </a:xfrm>
          <a:prstGeom prst="rect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77840" y="1353312"/>
            <a:ext cx="3017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C78A8"/>
                </a:solidFill>
              </a:rPr>
              <a:t>1,470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80822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72"/>
                </a:solidFill>
              </a:rPr>
              <a:t>employees analysed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94960" y="2377440"/>
            <a:ext cx="3291840" cy="960120"/>
          </a:xfrm>
          <a:prstGeom prst="rect">
            <a:avLst/>
          </a:prstGeom>
          <a:solidFill>
            <a:srgbClr val="F2F6FA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0" y="2377440"/>
            <a:ext cx="73152" cy="9601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77840" y="2450592"/>
            <a:ext cx="3017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572E"/>
                </a:solidFill>
              </a:rPr>
              <a:t>16.1%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290550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72"/>
                </a:solidFill>
              </a:rPr>
              <a:t>attrition (237 employees left)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3474720"/>
            <a:ext cx="3291840" cy="960120"/>
          </a:xfrm>
          <a:prstGeom prst="rect">
            <a:avLst/>
          </a:prstGeom>
          <a:solidFill>
            <a:srgbClr val="F2F6FA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3474720"/>
            <a:ext cx="73152" cy="96012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3547872"/>
            <a:ext cx="30175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9A14F"/>
                </a:solidFill>
              </a:rPr>
              <a:t>11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400278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72"/>
                </a:solidFill>
              </a:rPr>
              <a:t>figures, plus chi-square and Mann-Whitney tests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is the strongest signal: 2.9x higher attrition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3291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3931920" y="118872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34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772"/>
                </a:solidFill>
              </a:rPr>
              <a:t>Sales Representatives (39.8%) and Laboratory Technicians (23.9%) are the hot spots. Company average: 16.1%.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leaves: younger, lower-paid, short-tenure employees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3891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120640" y="1188720"/>
            <a:ext cx="3566160" cy="1005840"/>
          </a:xfrm>
          <a:prstGeom prst="rect">
            <a:avLst/>
          </a:prstGeom>
          <a:solidFill>
            <a:srgbClr val="F2F6FA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120640" y="1188720"/>
            <a:ext cx="73152" cy="10058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303520" y="12618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572E"/>
                </a:solidFill>
              </a:rPr>
              <a:t>$3,202 vs $5,204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17419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72"/>
                </a:solidFill>
              </a:rPr>
              <a:t>median monthly income: leavers vs stayers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120640" y="2331720"/>
            <a:ext cx="3566160" cy="1005840"/>
          </a:xfrm>
          <a:prstGeom prst="rect">
            <a:avLst/>
          </a:prstGeom>
          <a:solidFill>
            <a:srgbClr val="F2F6FA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20640" y="2331720"/>
            <a:ext cx="73152" cy="10058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0" y="24048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572E"/>
                </a:solidFill>
              </a:rPr>
              <a:t>3 vs 6 years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28849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72"/>
                </a:solidFill>
              </a:rPr>
              <a:t>median tenure: leavers vs stayers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20640" y="3474720"/>
            <a:ext cx="3566160" cy="1005840"/>
          </a:xfrm>
          <a:prstGeom prst="rect">
            <a:avLst/>
          </a:prstGeom>
          <a:solidFill>
            <a:srgbClr val="F2F6FA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20640" y="3474720"/>
            <a:ext cx="73152" cy="10058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303520" y="35478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572E"/>
                </a:solidFill>
              </a:rPr>
              <a:t>32 vs 36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40279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72"/>
                </a:solidFill>
              </a:rPr>
              <a:t>median age: leavers vs stayers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matters, and risk factors compound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029200" y="1188720"/>
            <a:ext cx="3657600" cy="1051560"/>
          </a:xfrm>
          <a:prstGeom prst="rect">
            <a:avLst/>
          </a:prstGeom>
          <a:solidFill>
            <a:srgbClr val="F2F6FA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0" y="1188720"/>
            <a:ext cx="73152" cy="105156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212080" y="1261872"/>
            <a:ext cx="33832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572E"/>
                </a:solidFill>
              </a:rPr>
              <a:t>51.5%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212080" y="176707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72"/>
                </a:solidFill>
              </a:rPr>
              <a:t>attrition for overtime + below-median pay + under 36 (69 of 134)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2377440"/>
            <a:ext cx="3657600" cy="1051560"/>
          </a:xfrm>
          <a:prstGeom prst="rect">
            <a:avLst/>
          </a:prstGeom>
          <a:solidFill>
            <a:srgbClr val="F2F6FA"/>
          </a:solidFill>
          <a:ln w="9525">
            <a:solidFill>
              <a:srgbClr val="DCE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0" y="2377440"/>
            <a:ext cx="73152" cy="105156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212080" y="2450592"/>
            <a:ext cx="33832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4572E"/>
                </a:solidFill>
              </a:rPr>
              <a:t>49.6%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955798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772"/>
                </a:solidFill>
              </a:rPr>
              <a:t>attrition for single employees working overtime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3611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</a:rPr>
              <a:t>The high-risk group is only 9% of staff but 29% of all leavers.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</a:rPr>
              <a:t>Control overtime: cap hours and rebalance workload in heavy-overtime roles; track it as an early-warning indicator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</a:rPr>
              <a:t>Target young, early-career, below-median-income staff with mentoring, stay interviews and a visible career path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</a:rPr>
              <a:t>Review junior pay in the highest-attrition roles (Sales Representative, Laboratory Technician)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</a:rPr>
              <a:t>Treat a low satisfaction or work-life-balance survey score as a trigger for a manager conversation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</a:rPr>
              <a:t>Consider stock-option or retention incentives for level 0 employees and review travel load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</a:rPr>
              <a:t>Fictional, synthetic IBM dataset: exact percentages may not hold for a real company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</a:rPr>
              <a:t>Single snapshot with no dates, so no time-series or time-to-exit analysis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</a:rPr>
              <a:t>Association, not causation: overtime may be a symptom of a deeper problem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</a:rPr>
              <a:t>Class imbalance (16% leavers) and small groups (e.g. bad work-life balance, n = 80) make some rates unstable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</a:rPr>
              <a:t>Next step: a predictive model (e.g. logistic regression) after handling correlated features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8C8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A Portfolio">
  <a:themeElements>
    <a:clrScheme name="EDA Portfolio">
      <a:dk1>
        <a:srgbClr val="1B2733"/>
      </a:dk1>
      <a:lt1>
        <a:srgbClr val="FFFFFF"/>
      </a:lt1>
      <a:dk2>
        <a:srgbClr val="1F3A5F"/>
      </a:dk2>
      <a:lt2>
        <a:srgbClr val="F2F6FA"/>
      </a:lt2>
      <a:accent1>
        <a:srgbClr val="4C78A8"/>
      </a:accent1>
      <a:accent2>
        <a:srgbClr val="E4572E"/>
      </a:accent2>
      <a:accent3>
        <a:srgbClr val="59A14F"/>
      </a:accent3>
      <a:accent4>
        <a:srgbClr val="B279A2"/>
      </a:accent4>
      <a:accent5>
        <a:srgbClr val="F2A541"/>
      </a:accent5>
      <a:accent6>
        <a:srgbClr val="7F8C8D"/>
      </a:accent6>
      <a:hlink>
        <a:srgbClr val="2F5D8C"/>
      </a:hlink>
      <a:folHlink>
        <a:srgbClr val="7F8C8D"/>
      </a:folHlink>
    </a:clrScheme>
    <a:fontScheme name="EDA Portfoli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&amp; Workforce Analytics</dc:title>
  <dc:subject>PptxGenJS Presentation</dc:subject>
  <dc:creator>PptxGenJS</dc:creator>
  <cp:lastModifiedBy>PptxGenJS</cp:lastModifiedBy>
  <cp:revision>1</cp:revision>
  <dcterms:created xsi:type="dcterms:W3CDTF">2026-10-18T12:31:32Z</dcterms:created>
  <dcterms:modified xsi:type="dcterms:W3CDTF">2026-10-18T12:31:32Z</dcterms:modified>
</cp:coreProperties>
</file>